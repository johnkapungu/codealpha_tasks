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 RMSE</c:v>
                </c:pt>
              </c:strCache>
            </c:strRef>
          </c:tx>
          <c:spPr>
            <a:solidFill>
              <a:srgbClr val="2563B4"/>
            </a:solidFill>
          </c:spPr>
          <c:cat>
            <c:strRef>
              <c:f>Sheet1!$A$2:$A$5</c:f>
              <c:strCache>
                <c:ptCount val="4"/>
                <c:pt idx="0">
                  <c:v>Linear Regression</c:v>
                </c:pt>
                <c:pt idx="1">
                  <c:v>Tuned Gradient Boosting</c:v>
                </c:pt>
                <c:pt idx="2">
                  <c:v>Decision Tree</c:v>
                </c:pt>
                <c:pt idx="3">
                  <c:v>Tuned Random 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2.712</c:v>
                </c:pt>
                <c:pt idx="1">
                  <c:v>2.967</c:v>
                </c:pt>
                <c:pt idx="2">
                  <c:v>3.2031</c:v>
                </c:pt>
                <c:pt idx="3">
                  <c:v>4.0671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5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3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21040" y="0"/>
            <a:ext cx="3867912" cy="6858000"/>
          </a:xfrm>
          <a:prstGeom prst="rect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4952" cy="6858000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46920" y="0"/>
            <a:ext cx="2542032" cy="6858000"/>
          </a:xfrm>
          <a:prstGeom prst="rect">
            <a:avLst/>
          </a:prstGeom>
          <a:solidFill>
            <a:srgbClr val="112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8869680" cy="6858000"/>
          </a:xfrm>
          <a:prstGeom prst="rect">
            <a:avLst/>
          </a:prstGeom>
          <a:solidFill>
            <a:srgbClr val="112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77240"/>
            <a:ext cx="722376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28426"/>
                </a:solidFill>
                <a:latin typeface="Aptos"/>
              </a:rPr>
              <a:t>MACHINE LEARNING PROJECT  /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08760"/>
            <a:ext cx="7498079" cy="1645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CAR PRICE
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429000"/>
            <a:ext cx="694944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300" b="0">
                <a:solidFill>
                  <a:srgbClr val="D2DEEF"/>
                </a:solidFill>
                <a:latin typeface="Aptos"/>
              </a:rPr>
              <a:t>Using supervised regression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617720"/>
            <a:ext cx="68580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Prepared by John Afwilile Kapungu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166360"/>
            <a:ext cx="65836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0">
                <a:solidFill>
                  <a:srgbClr val="B9C7DC"/>
                </a:solidFill>
                <a:latin typeface="Aptos"/>
              </a:rPr>
              <a:t>Data exploration • Model comparison •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417320"/>
            <a:ext cx="22860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PREDICT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011680"/>
            <a:ext cx="228600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971800"/>
            <a:ext cx="228600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931920"/>
            <a:ext cx="228600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6080760"/>
            <a:ext cx="22860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700" b="1">
                <a:solidFill>
                  <a:srgbClr val="112343"/>
                </a:solidFill>
                <a:latin typeface="Aptos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731520" cy="54864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4231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CAR PRICE PREDICTION  |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260604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73152" cy="1325880"/>
          </a:xfrm>
          <a:prstGeom prst="rect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362456"/>
            <a:ext cx="224028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301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46504"/>
            <a:ext cx="2240280" cy="73151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73241"/>
                </a:solidFill>
                <a:latin typeface="Aptos"/>
              </a:rPr>
              <a:t>Initial dataset size.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234440"/>
            <a:ext cx="260604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234440"/>
            <a:ext cx="73152" cy="1325880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1362456"/>
            <a:ext cx="224028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9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1746504"/>
            <a:ext cx="2240280" cy="73151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273241"/>
                </a:solidFill>
                <a:latin typeface="Aptos"/>
              </a:rPr>
              <a:t>Vehicle details + selling price target.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234440"/>
            <a:ext cx="260604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234440"/>
            <a:ext cx="73152" cy="1325880"/>
          </a:xfrm>
          <a:prstGeom prst="rect">
            <a:avLst/>
          </a:prstGeom>
          <a:solidFill>
            <a:srgbClr val="13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1362456"/>
            <a:ext cx="224028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4 algorithms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1746504"/>
            <a:ext cx="2240280" cy="73151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273241"/>
                </a:solidFill>
                <a:latin typeface="Aptos"/>
              </a:rPr>
              <a:t>Regression models compared.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234440"/>
            <a:ext cx="242316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234440"/>
            <a:ext cx="73152" cy="1325880"/>
          </a:xfrm>
          <a:prstGeom prst="rect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1362456"/>
            <a:ext cx="20574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Best test RMSE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1746504"/>
            <a:ext cx="2057400" cy="73151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273241"/>
                </a:solidFill>
                <a:latin typeface="Aptos"/>
              </a:rPr>
              <a:t>2.7120 — Linear Regression.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063240"/>
            <a:ext cx="105156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000" b="1">
                <a:solidFill>
                  <a:srgbClr val="112343"/>
                </a:solidFill>
                <a:latin typeface="Aptos"/>
              </a:rPr>
              <a:t>Project 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566160"/>
            <a:ext cx="10424160" cy="11887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900" b="0">
                <a:solidFill>
                  <a:srgbClr val="273241"/>
                </a:solidFill>
                <a:latin typeface="Aptos"/>
              </a:rPr>
              <a:t>Linear Regression achieved the strongest reported test RMSE and R². Tuned Gradient Boosting achieved the lowest test MAE among final candidates. Results are promising but require further validation before deployment.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5156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B93E3E"/>
                </a:solidFill>
                <a:latin typeface="Aptos"/>
              </a:rPr>
              <a:t>Price units/currency were not verified; error values are reported in dataset units.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700" b="1">
                <a:solidFill>
                  <a:srgbClr val="112343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731520" cy="54864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4231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CAR PRICE PREDICTION  |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493776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000" b="1">
                <a:solidFill>
                  <a:srgbClr val="112343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46320" cy="1417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0">
                <a:solidFill>
                  <a:srgbClr val="273241"/>
                </a:solidFill>
                <a:latin typeface="Aptos"/>
              </a:rPr>
              <a:t>Used-car prices depend on vehicle age, market price, mileage, fuel type and transmission. Estimating a fair selling price consistently can be challenging.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34440"/>
            <a:ext cx="493776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000" b="1">
                <a:solidFill>
                  <a:srgbClr val="112343"/>
                </a:solidFill>
                <a:latin typeface="Aptos"/>
              </a:rPr>
              <a:t>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50292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73241"/>
                </a:solidFill>
                <a:latin typeface="Aptos"/>
              </a:defRPr>
            </a:pPr>
            <a:r>
              <a:t>•  Inspect and prepare the dataset</a:t>
            </a:r>
          </a:p>
          <a:p>
            <a:pPr>
              <a:spcAft>
                <a:spcPts val="1000"/>
              </a:spcAft>
              <a:defRPr sz="1600">
                <a:solidFill>
                  <a:srgbClr val="273241"/>
                </a:solidFill>
                <a:latin typeface="Aptos"/>
              </a:defRPr>
            </a:pPr>
            <a:r>
              <a:t>•  Engineer age and usage features</a:t>
            </a:r>
          </a:p>
          <a:p>
            <a:pPr>
              <a:spcAft>
                <a:spcPts val="1000"/>
              </a:spcAft>
              <a:defRPr sz="1600">
                <a:solidFill>
                  <a:srgbClr val="273241"/>
                </a:solidFill>
                <a:latin typeface="Aptos"/>
              </a:defRPr>
            </a:pPr>
            <a:r>
              <a:t>•  Train and compare regression algorithms</a:t>
            </a:r>
          </a:p>
          <a:p>
            <a:pPr>
              <a:spcAft>
                <a:spcPts val="1000"/>
              </a:spcAft>
              <a:defRPr sz="1600">
                <a:solidFill>
                  <a:srgbClr val="273241"/>
                </a:solidFill>
                <a:latin typeface="Aptos"/>
              </a:defRPr>
            </a:pPr>
            <a:r>
              <a:t>•  Tune selected models with cross-validation</a:t>
            </a:r>
          </a:p>
          <a:p>
            <a:pPr>
              <a:spcAft>
                <a:spcPts val="1000"/>
              </a:spcAft>
              <a:defRPr sz="1600">
                <a:solidFill>
                  <a:srgbClr val="273241"/>
                </a:solidFill>
                <a:latin typeface="Aptos"/>
              </a:defRPr>
            </a:pPr>
            <a:r>
              <a:t>•  Evaluate performance on held-out test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892040"/>
            <a:ext cx="10469880" cy="91440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4892040"/>
            <a:ext cx="73152" cy="914400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5020055"/>
            <a:ext cx="10104119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Success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5404104"/>
            <a:ext cx="10104119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273241"/>
                </a:solidFill>
                <a:latin typeface="Aptos"/>
              </a:rPr>
              <a:t>Lower MAE/RMSE indicate smaller errors; higher R² indicates more variance explained on the test 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700" b="1">
                <a:solidFill>
                  <a:srgbClr val="112343"/>
                </a:solidFill>
                <a:latin typeface="Aptos"/>
              </a:rP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731520" cy="54864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4231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CAR PRICE PREDICTION  |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17320"/>
          <a:ext cx="56692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566160"/>
              </a:tblGrid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Field group</a:t>
                      </a:r>
                    </a:p>
                  </a:txBody>
                  <a:tcPr>
                    <a:solidFill>
                      <a:srgbClr val="11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Columns</a:t>
                      </a:r>
                    </a:p>
                  </a:txBody>
                  <a:tcPr>
                    <a:solidFill>
                      <a:srgbClr val="11234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Vehicle 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Car_Name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Year / market value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Year, Present_Price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Selling_Price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Usage / ownership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Driven_kms, Owner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Vehicle 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Fuel_Type, Selling_type, Transmission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766560" y="1508760"/>
            <a:ext cx="4297680" cy="100584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0" y="1508760"/>
            <a:ext cx="73152" cy="1005840"/>
          </a:xfrm>
          <a:prstGeom prst="rect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636776"/>
            <a:ext cx="39319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Initial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2020824"/>
            <a:ext cx="39319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0">
                <a:solidFill>
                  <a:srgbClr val="273241"/>
                </a:solidFill>
                <a:latin typeface="Aptos"/>
              </a:rPr>
              <a:t>301 rows × 9 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743200"/>
            <a:ext cx="4297680" cy="105156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0" y="2743200"/>
            <a:ext cx="73152" cy="1051560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2871216"/>
            <a:ext cx="39319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Data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3255264"/>
            <a:ext cx="3931920" cy="45719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273241"/>
                </a:solidFill>
                <a:latin typeface="Aptos"/>
              </a:rPr>
              <a:t>No missing values reported; 2 exact duplicate rows identified.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4023360"/>
            <a:ext cx="4297680" cy="105156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0" y="4023360"/>
            <a:ext cx="73152" cy="1051560"/>
          </a:xfrm>
          <a:prstGeom prst="rect">
            <a:avLst/>
          </a:prstGeom>
          <a:solidFill>
            <a:srgbClr val="13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4151376"/>
            <a:ext cx="39319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Prediction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4535424"/>
            <a:ext cx="3931920" cy="45719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73241"/>
                </a:solidFill>
                <a:latin typeface="Aptos"/>
              </a:rPr>
              <a:t>Selling_Price — regression target.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Feature engineering used 2018 as the dataset reference year, not the current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700" b="1">
                <a:solidFill>
                  <a:srgbClr val="112343"/>
                </a:solidFill>
                <a:latin typeface="Aptos"/>
              </a:rPr>
              <a:t>Data Preparation &amp; 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731520" cy="54864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4231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CAR PRICE PREDICTION  |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188720"/>
            <a:ext cx="457200" cy="457200"/>
          </a:xfrm>
          <a:prstGeom prst="ellipse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8016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179576"/>
            <a:ext cx="1645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179576"/>
            <a:ext cx="7955279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73241"/>
                </a:solidFill>
                <a:latin typeface="Aptos"/>
              </a:rPr>
              <a:t>Dimensions, data types, statistics, missingness and duplicates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139696"/>
            <a:ext cx="457200" cy="457200"/>
          </a:xfrm>
          <a:prstGeom prst="ellipse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31136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130552"/>
            <a:ext cx="1645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130552"/>
            <a:ext cx="7955279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73241"/>
                </a:solidFill>
                <a:latin typeface="Aptos"/>
              </a:rPr>
              <a:t>Remove exact duplicate records and check consistency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090672"/>
            <a:ext cx="457200" cy="457200"/>
          </a:xfrm>
          <a:prstGeom prst="ellipse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182112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081528"/>
            <a:ext cx="1645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081528"/>
            <a:ext cx="7955279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73241"/>
                </a:solidFill>
                <a:latin typeface="Aptos"/>
              </a:rPr>
              <a:t>Car_Age = 2018 − Year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041648"/>
            <a:ext cx="457200" cy="457200"/>
          </a:xfrm>
          <a:prstGeom prst="ellipse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33087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32504"/>
            <a:ext cx="1645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Engineer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032504"/>
            <a:ext cx="7955279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73241"/>
                </a:solidFill>
                <a:latin typeface="Aptos"/>
              </a:rPr>
              <a:t>Mileage_Per_Year = Driven_kms ÷ Car_Age when age &gt; 0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4992624"/>
            <a:ext cx="457200" cy="457200"/>
          </a:xfrm>
          <a:prstGeom prst="ellipse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84064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983480"/>
            <a:ext cx="1645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Preprocess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4983480"/>
            <a:ext cx="7955279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73241"/>
                </a:solidFill>
                <a:latin typeface="Aptos"/>
              </a:rPr>
              <a:t>Numeric median imputation + scaling; categorical mode imputation + one-hot encoding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080760"/>
            <a:ext cx="10515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38B87"/>
                </a:solidFill>
                <a:latin typeface="Aptos"/>
              </a:rPr>
              <a:t>Preprocessing was fitted inside model pipelines to reduce test-set leakage.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700" b="1">
                <a:solidFill>
                  <a:srgbClr val="112343"/>
                </a:solidFill>
                <a:latin typeface="Aptos"/>
              </a:rPr>
              <a:t>Modeling &amp; Evaluation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731520" cy="54864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4231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CAR PRICE PREDICTION  |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074920" cy="109728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73152" cy="1097280"/>
          </a:xfrm>
          <a:prstGeom prst="rect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453895"/>
            <a:ext cx="4709159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Linear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837943"/>
            <a:ext cx="4709159" cy="50291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273241"/>
                </a:solidFill>
                <a:latin typeface="Aptos"/>
              </a:rPr>
              <a:t>Interpretable baseline for numeric prediction.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074920" cy="109728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73152" cy="1097280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453895"/>
            <a:ext cx="4709159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Decision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837943"/>
            <a:ext cx="4709159" cy="50291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273241"/>
                </a:solidFill>
                <a:latin typeface="Aptos"/>
              </a:rPr>
              <a:t>Learns non-linear decision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5074920" cy="109728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697480"/>
            <a:ext cx="73152" cy="1097280"/>
          </a:xfrm>
          <a:prstGeom prst="rect">
            <a:avLst/>
          </a:prstGeom>
          <a:solidFill>
            <a:srgbClr val="13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825496"/>
            <a:ext cx="4709159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209544"/>
            <a:ext cx="4709159" cy="50291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273241"/>
                </a:solidFill>
                <a:latin typeface="Aptos"/>
              </a:rPr>
              <a:t>Combines many trees to reduce variance.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697480"/>
            <a:ext cx="5074920" cy="109728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697480"/>
            <a:ext cx="73152" cy="1097280"/>
          </a:xfrm>
          <a:prstGeom prst="rect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2825496"/>
            <a:ext cx="4709159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Gradient Boosting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209544"/>
            <a:ext cx="4709159" cy="50291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273241"/>
                </a:solidFill>
                <a:latin typeface="Aptos"/>
              </a:rPr>
              <a:t>Sequential trees correct earlier errors.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51960"/>
            <a:ext cx="41148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900" b="1">
                <a:solidFill>
                  <a:srgbClr val="112343"/>
                </a:solidFill>
                <a:latin typeface="Aptos"/>
              </a:rPr>
              <a:t>Evaluation metrics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709160"/>
            <a:ext cx="3337560" cy="91440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4709160"/>
            <a:ext cx="73152" cy="914400"/>
          </a:xfrm>
          <a:prstGeom prst="rect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4837176"/>
            <a:ext cx="2971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MAE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5221224"/>
            <a:ext cx="29718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0">
                <a:solidFill>
                  <a:srgbClr val="273241"/>
                </a:solidFill>
                <a:latin typeface="Aptos"/>
              </a:rPr>
              <a:t>Average absolute error.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4709160"/>
            <a:ext cx="3337560" cy="91440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4709160"/>
            <a:ext cx="73152" cy="914400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6007" y="4837176"/>
            <a:ext cx="2971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RMSE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7" y="5221224"/>
            <a:ext cx="29718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0">
                <a:solidFill>
                  <a:srgbClr val="273241"/>
                </a:solidFill>
                <a:latin typeface="Aptos"/>
              </a:rPr>
              <a:t>Penalizes large errors more.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709160"/>
            <a:ext cx="3337560" cy="91440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4709160"/>
            <a:ext cx="73152" cy="914400"/>
          </a:xfrm>
          <a:prstGeom prst="rect">
            <a:avLst/>
          </a:prstGeom>
          <a:solidFill>
            <a:srgbClr val="13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7888" y="4837176"/>
            <a:ext cx="2971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R²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5221224"/>
            <a:ext cx="29718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0">
                <a:solidFill>
                  <a:srgbClr val="273241"/>
                </a:solidFill>
                <a:latin typeface="Aptos"/>
              </a:rPr>
              <a:t>Variance explained by the model.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80/20 train-test split (random_state=42); 5-fold shuffled cross-validation.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700" b="1">
                <a:solidFill>
                  <a:srgbClr val="112343"/>
                </a:solidFill>
                <a:latin typeface="Aptos"/>
              </a:rPr>
              <a:t>Initial 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731520" cy="54864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4231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CAR PRICE PREDICTION  |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71600"/>
          <a:ext cx="1083563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74519"/>
                <a:gridCol w="1874519"/>
                <a:gridCol w="2057400"/>
                <a:gridCol w="2103120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1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CV RMSE</a:t>
                      </a:r>
                    </a:p>
                  </a:txBody>
                  <a:tcPr>
                    <a:solidFill>
                      <a:srgbClr val="11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MAE</a:t>
                      </a:r>
                    </a:p>
                  </a:txBody>
                  <a:tcPr>
                    <a:solidFill>
                      <a:srgbClr val="11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RMSE</a:t>
                      </a:r>
                    </a:p>
                  </a:txBody>
                  <a:tcPr>
                    <a:solidFill>
                      <a:srgbClr val="11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R²</a:t>
                      </a:r>
                    </a:p>
                  </a:txBody>
                  <a:tcPr>
                    <a:solidFill>
                      <a:srgbClr val="11234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1.5878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1.4342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2.7120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0.7146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1.5740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1.2915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3.1271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0.6206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2.2666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1.3608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3.2031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0.6019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1.5110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1.4633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3.5790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0.5030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4892040"/>
            <a:ext cx="4937760" cy="91440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892040"/>
            <a:ext cx="73152" cy="914400"/>
          </a:xfrm>
          <a:prstGeom prst="rect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5020055"/>
            <a:ext cx="45720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Lowest initial test 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404104"/>
            <a:ext cx="45720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273241"/>
                </a:solidFill>
                <a:latin typeface="Aptos"/>
              </a:rPr>
              <a:t>Linear Regression: 2.7120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892040"/>
            <a:ext cx="4937760" cy="91440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4892040"/>
            <a:ext cx="73152" cy="914400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5020055"/>
            <a:ext cx="45720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Lowest initial test 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5404104"/>
            <a:ext cx="45720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273241"/>
                </a:solidFill>
                <a:latin typeface="Aptos"/>
              </a:rPr>
              <a:t>Gradient Boosting: 1.2915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016752"/>
            <a:ext cx="10515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Cross-validation and test-set rankings differ; assess both for robustness.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700" b="1">
                <a:solidFill>
                  <a:srgbClr val="112343"/>
                </a:solidFill>
                <a:latin typeface="Aptos"/>
              </a:rPr>
              <a:t>Hyperparameter Tuning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731520" cy="54864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4231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CAR PRICE PREDICTION  |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71600"/>
          <a:ext cx="10835638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1874519"/>
                <a:gridCol w="1874519"/>
                <a:gridCol w="2057400"/>
                <a:gridCol w="2057400"/>
              </a:tblGrid>
              <a:tr h="65151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1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CV RMSE</a:t>
                      </a:r>
                    </a:p>
                  </a:txBody>
                  <a:tcPr>
                    <a:solidFill>
                      <a:srgbClr val="11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MAE</a:t>
                      </a:r>
                    </a:p>
                  </a:txBody>
                  <a:tcPr>
                    <a:solidFill>
                      <a:srgbClr val="11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RMSE</a:t>
                      </a:r>
                    </a:p>
                  </a:txBody>
                  <a:tcPr>
                    <a:solidFill>
                      <a:srgbClr val="11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R²</a:t>
                      </a:r>
                    </a:p>
                  </a:txBody>
                  <a:tcPr>
                    <a:solidFill>
                      <a:srgbClr val="112343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Linear Regression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1.4342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2.7120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0.7146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Gradient Boosting (tuned)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1.3662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1.1845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2.9670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0.6584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Random Forest (tuned)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1.5839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1.6303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4.0671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0.3582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4389120"/>
            <a:ext cx="4983480" cy="105156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389120"/>
            <a:ext cx="73152" cy="1051560"/>
          </a:xfrm>
          <a:prstGeom prst="rect">
            <a:avLst/>
          </a:prstGeom>
          <a:solidFill>
            <a:srgbClr val="13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517136"/>
            <a:ext cx="46177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Gradient Boosting improvement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901183"/>
            <a:ext cx="4617720" cy="45719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273241"/>
                </a:solidFill>
                <a:latin typeface="Aptos"/>
              </a:rPr>
              <a:t>Test RMSE improved from 3.1271 to 2.9670 (~5.1%).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389120"/>
            <a:ext cx="4983480" cy="105156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4389120"/>
            <a:ext cx="73152" cy="1051560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4517136"/>
            <a:ext cx="46177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Tuning is not a guarantee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4901183"/>
            <a:ext cx="4617720" cy="45719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273241"/>
                </a:solidFill>
                <a:latin typeface="Aptos"/>
              </a:rPr>
              <a:t>Tuned Random Forest performed worse on the held-out test 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Search used training data, 5-fold cross-validation and RMSE-based scoring.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700" b="1">
                <a:solidFill>
                  <a:srgbClr val="112343"/>
                </a:solidFill>
                <a:latin typeface="Aptos"/>
              </a:rPr>
              <a:t>Test RMSE: Comparing Final Candidates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731520" cy="54864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4231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CAR PRICE PREDICTION  |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280160"/>
          <a:ext cx="7498079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95360" y="1600200"/>
            <a:ext cx="2560320" cy="114300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95360" y="1600200"/>
            <a:ext cx="73152" cy="1143000"/>
          </a:xfrm>
          <a:prstGeom prst="rect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96528" y="1728216"/>
            <a:ext cx="219456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Lower is better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2112264"/>
            <a:ext cx="219456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273241"/>
                </a:solidFill>
                <a:latin typeface="Aptos"/>
              </a:rPr>
              <a:t>RMSE penalizes larger misses.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3017520"/>
            <a:ext cx="2560320" cy="114300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0" y="3017520"/>
            <a:ext cx="73152" cy="1143000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96528" y="3145536"/>
            <a:ext cx="219456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Top test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3529584"/>
            <a:ext cx="219456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273241"/>
                </a:solidFill>
                <a:latin typeface="Aptos"/>
              </a:rPr>
              <a:t>Linear Regression: 2.7120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617720"/>
            <a:ext cx="256032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B93E3E"/>
                </a:solidFill>
                <a:latin typeface="Aptos"/>
              </a:rPr>
              <a:t>Values are in dataset price units; currency is unverified.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700" b="1">
                <a:solidFill>
                  <a:srgbClr val="112343"/>
                </a:solidFill>
                <a:latin typeface="Aptos"/>
              </a:rPr>
              <a:t>Residual Analysis &amp; Error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731520" cy="54864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4231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CAR PRICE PREDICTION  |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50292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000" b="1">
                <a:solidFill>
                  <a:srgbClr val="112343"/>
                </a:solidFill>
                <a:latin typeface="Aptos"/>
              </a:rPr>
              <a:t>Interpreting residuals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73241"/>
                </a:solidFill>
                <a:latin typeface="Aptos"/>
              </a:defRPr>
            </a:pPr>
            <a:r>
              <a:t>•  Residual = actual − predicted price</a:t>
            </a:r>
          </a:p>
          <a:p>
            <a:pPr>
              <a:spcAft>
                <a:spcPts val="1000"/>
              </a:spcAft>
              <a:defRPr sz="1600">
                <a:solidFill>
                  <a:srgbClr val="273241"/>
                </a:solidFill>
                <a:latin typeface="Aptos"/>
              </a:defRPr>
            </a:pPr>
            <a:r>
              <a:t>•  Positive residual: underprediction</a:t>
            </a:r>
          </a:p>
          <a:p>
            <a:pPr>
              <a:spcAft>
                <a:spcPts val="1000"/>
              </a:spcAft>
              <a:defRPr sz="1600">
                <a:solidFill>
                  <a:srgbClr val="273241"/>
                </a:solidFill>
                <a:latin typeface="Aptos"/>
              </a:defRPr>
            </a:pPr>
            <a:r>
              <a:t>•  Negative residual: overprediction</a:t>
            </a:r>
          </a:p>
          <a:p>
            <a:pPr>
              <a:spcAft>
                <a:spcPts val="1000"/>
              </a:spcAft>
              <a:defRPr sz="1600">
                <a:solidFill>
                  <a:srgbClr val="273241"/>
                </a:solidFill>
                <a:latin typeface="Aptos"/>
              </a:defRPr>
            </a:pPr>
            <a:r>
              <a:t>•  Near-zero residual: closer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34440"/>
            <a:ext cx="493776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000" b="1">
                <a:solidFill>
                  <a:srgbClr val="112343"/>
                </a:solidFill>
                <a:latin typeface="Aptos"/>
              </a:rPr>
              <a:t>What the plot suggests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73241"/>
                </a:solidFill>
                <a:latin typeface="Aptos"/>
              </a:defRPr>
            </a:pPr>
            <a:r>
              <a:t>•  Many errors cluster near zero</a:t>
            </a:r>
          </a:p>
          <a:p>
            <a:pPr>
              <a:spcAft>
                <a:spcPts val="1000"/>
              </a:spcAft>
              <a:defRPr sz="1600">
                <a:solidFill>
                  <a:srgbClr val="273241"/>
                </a:solidFill>
                <a:latin typeface="Aptos"/>
              </a:defRPr>
            </a:pPr>
            <a:r>
              <a:t>•  Some observations have large errors</a:t>
            </a:r>
          </a:p>
          <a:p>
            <a:pPr>
              <a:spcAft>
                <a:spcPts val="1000"/>
              </a:spcAft>
              <a:defRPr sz="1600">
                <a:solidFill>
                  <a:srgbClr val="273241"/>
                </a:solidFill>
                <a:latin typeface="Aptos"/>
              </a:defRPr>
            </a:pPr>
            <a:r>
              <a:t>•  At least one prediction appears below zero</a:t>
            </a:r>
          </a:p>
          <a:p>
            <a:pPr>
              <a:spcAft>
                <a:spcPts val="1000"/>
              </a:spcAft>
              <a:defRPr sz="1600">
                <a:solidFill>
                  <a:srgbClr val="273241"/>
                </a:solidFill>
                <a:latin typeface="Aptos"/>
              </a:defRPr>
            </a:pPr>
            <a:r>
              <a:t>•  Inspect large-error cases before conclusions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983480"/>
            <a:ext cx="10332720" cy="82296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983480"/>
            <a:ext cx="73152" cy="822960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5111496"/>
            <a:ext cx="996696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Recommended diagnostic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5495544"/>
            <a:ext cx="99669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273241"/>
                </a:solidFill>
                <a:latin typeface="Aptos"/>
              </a:rPr>
              <a:t>Review largest absolute errors, validate source records, and compare residuals across candidate models. Do not remove outliers without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700" b="1">
                <a:solidFill>
                  <a:srgbClr val="112343"/>
                </a:solidFill>
                <a:latin typeface="Aptos"/>
              </a:rPr>
              <a:t>Limitations &amp;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731520" cy="54864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4231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CRITICAL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CAR PRICE PREDICTION  |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73241"/>
                </a:solidFill>
                <a:latin typeface="Aptos"/>
              </a:defRPr>
            </a:pPr>
            <a:r>
              <a:t>•  Small dataset: 301 initial records may not represent the wider used-car market.</a:t>
            </a:r>
          </a:p>
          <a:p>
            <a:pPr>
              <a:spcAft>
                <a:spcPts val="1000"/>
              </a:spcAft>
              <a:defRPr sz="1700">
                <a:solidFill>
                  <a:srgbClr val="273241"/>
                </a:solidFill>
                <a:latin typeface="Aptos"/>
              </a:defRPr>
            </a:pPr>
            <a:r>
              <a:t>•  Car names can create many one-hot encoded categories.</a:t>
            </a:r>
          </a:p>
          <a:p>
            <a:pPr>
              <a:spcAft>
                <a:spcPts val="1000"/>
              </a:spcAft>
              <a:defRPr sz="1700">
                <a:solidFill>
                  <a:srgbClr val="273241"/>
                </a:solidFill>
                <a:latin typeface="Aptos"/>
              </a:defRPr>
            </a:pPr>
            <a:r>
              <a:t>•  Price units and currency were not verified, limiting business interpretation.</a:t>
            </a:r>
          </a:p>
          <a:p>
            <a:pPr>
              <a:spcAft>
                <a:spcPts val="1000"/>
              </a:spcAft>
              <a:defRPr sz="1700">
                <a:solidFill>
                  <a:srgbClr val="273241"/>
                </a:solidFill>
                <a:latin typeface="Aptos"/>
              </a:defRPr>
            </a:pPr>
            <a:r>
              <a:t>•  Large residuals indicate some vehicles are harder to predict accurately.</a:t>
            </a:r>
          </a:p>
          <a:p>
            <a:pPr>
              <a:spcAft>
                <a:spcPts val="1000"/>
              </a:spcAft>
              <a:defRPr sz="1700">
                <a:solidFill>
                  <a:srgbClr val="273241"/>
                </a:solidFill>
                <a:latin typeface="Aptos"/>
              </a:defRPr>
            </a:pPr>
            <a:r>
              <a:t>•  A single random split can be sensitive to the records selected for testing.</a:t>
            </a:r>
          </a:p>
          <a:p>
            <a:pPr>
              <a:spcAft>
                <a:spcPts val="1000"/>
              </a:spcAft>
              <a:defRPr sz="1700">
                <a:solidFill>
                  <a:srgbClr val="273241"/>
                </a:solidFill>
                <a:latin typeface="Aptos"/>
              </a:defRPr>
            </a:pPr>
            <a:r>
              <a:t>•  The dataset reference year (2018) should be confirmed against the original source.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4241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B93E3E"/>
                </a:solidFill>
                <a:latin typeface="Aptos"/>
              </a:rPr>
              <a:t>Treat results as exploratory until validated on additional and more recent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700" b="1">
                <a:solidFill>
                  <a:srgbClr val="112343"/>
                </a:solidFill>
                <a:latin typeface="Aptos"/>
              </a:rPr>
              <a:t>Recommendations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731520" cy="54864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4231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CAR PRICE PREDICTION  |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1">
                <a:solidFill>
                  <a:srgbClr val="F28426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34440"/>
            <a:ext cx="20574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112343"/>
                </a:solidFill>
                <a:latin typeface="Aptos"/>
              </a:rPr>
              <a:t>Validate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34440"/>
            <a:ext cx="72237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73241"/>
                </a:solidFill>
                <a:latin typeface="Aptos"/>
              </a:rPr>
              <a:t>Confirm currency, units, source and collection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30552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1">
                <a:solidFill>
                  <a:srgbClr val="F2842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30552"/>
            <a:ext cx="20574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112343"/>
                </a:solidFill>
                <a:latin typeface="Aptos"/>
              </a:rPr>
              <a:t>Strengthen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130552"/>
            <a:ext cx="72237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73241"/>
                </a:solidFill>
                <a:latin typeface="Aptos"/>
              </a:rPr>
              <a:t>Use repeated cross-validation or an external test 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26664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1">
                <a:solidFill>
                  <a:srgbClr val="F28426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26664"/>
            <a:ext cx="20574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112343"/>
                </a:solidFill>
                <a:latin typeface="Aptos"/>
              </a:rPr>
              <a:t>Inspect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026664"/>
            <a:ext cx="72237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73241"/>
                </a:solidFill>
                <a:latin typeface="Aptos"/>
              </a:rPr>
              <a:t>Review high-residual vehicles and data quality.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22776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1">
                <a:solidFill>
                  <a:srgbClr val="F28426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22776"/>
            <a:ext cx="20574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112343"/>
                </a:solidFill>
                <a:latin typeface="Aptos"/>
              </a:rPr>
              <a:t>Improve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922776"/>
            <a:ext cx="72237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73241"/>
                </a:solidFill>
                <a:latin typeface="Aptos"/>
              </a:rPr>
              <a:t>Test justified vehicle-age, mileage and market features.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548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1">
                <a:solidFill>
                  <a:srgbClr val="F28426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818888"/>
            <a:ext cx="20574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112343"/>
                </a:solidFill>
                <a:latin typeface="Aptos"/>
              </a:rPr>
              <a:t>Prepare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818888"/>
            <a:ext cx="72237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73241"/>
                </a:solidFill>
                <a:latin typeface="Aptos"/>
              </a:rPr>
              <a:t>Save full pipeline and monitor prediction errors.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806440"/>
            <a:ext cx="10058400" cy="50292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5806440"/>
            <a:ext cx="73152" cy="502920"/>
          </a:xfrm>
          <a:prstGeom prst="rect">
            <a:avLst/>
          </a:prstGeom>
          <a:solidFill>
            <a:srgbClr val="B9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5934455"/>
            <a:ext cx="969264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Decision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6318504"/>
            <a:ext cx="9692640" cy="-9143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273241"/>
                </a:solidFill>
                <a:latin typeface="Aptos"/>
              </a:rPr>
              <a:t>Verify data context and out-of-sample performance before real pricing use.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3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28426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A useful baseline — with validation still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9966960" cy="11887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900" b="0">
                <a:solidFill>
                  <a:srgbClr val="DAE4F1"/>
                </a:solidFill>
                <a:latin typeface="Aptos"/>
              </a:rPr>
              <a:t>The project built an end-to-end regression workflow, compared four algorithms and tuned ensemble models. Linear Regression led on test RMSE and R², while tuned Gradient Boosting achieved the lowest test MAE among final candidates.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886200"/>
            <a:ext cx="324612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886200"/>
            <a:ext cx="73152" cy="1234440"/>
          </a:xfrm>
          <a:prstGeom prst="rect">
            <a:avLst/>
          </a:prstGeom>
          <a:solidFill>
            <a:srgbClr val="25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4014215"/>
            <a:ext cx="288036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Best test RMSE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398264"/>
            <a:ext cx="288036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273241"/>
                </a:solidFill>
                <a:latin typeface="Aptos"/>
              </a:rPr>
              <a:t>Linear Regression · 2.7120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886200"/>
            <a:ext cx="324612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3886200"/>
            <a:ext cx="73152" cy="1234440"/>
          </a:xfrm>
          <a:prstGeom prst="rect">
            <a:avLst/>
          </a:prstGeom>
          <a:solidFill>
            <a:srgbClr val="F2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4014215"/>
            <a:ext cx="288036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Best test 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4398264"/>
            <a:ext cx="288036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273241"/>
                </a:solidFill>
                <a:latin typeface="Aptos"/>
              </a:rPr>
              <a:t>Tuned Gradient Boosting · 1.1845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886200"/>
            <a:ext cx="324612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3886200"/>
            <a:ext cx="73152" cy="1234440"/>
          </a:xfrm>
          <a:prstGeom prst="rect">
            <a:avLst/>
          </a:prstGeom>
          <a:solidFill>
            <a:srgbClr val="13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4014215"/>
            <a:ext cx="288036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12343"/>
                </a:solidFill>
                <a:latin typeface="Aptos"/>
              </a:rPr>
              <a:t>Next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4398264"/>
            <a:ext cx="288036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273241"/>
                </a:solidFill>
                <a:latin typeface="Aptos"/>
              </a:rPr>
              <a:t>Validate data + generalization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89320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Thank you  •  Questions &amp; discussion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1">
                <a:solidFill>
                  <a:srgbClr val="B9C7DC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Price Prediction Using Machine Learning</dc:title>
  <dc:subject>Professional presentation based on the project report</dc:subject>
  <dc:creator>John Afwilile Kapungu</dc:creator>
  <cp:keywords>car price prediction, machine learning, regression, model evaluation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