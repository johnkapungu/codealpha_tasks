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03920" y="0"/>
            <a:ext cx="3687775" cy="6858000"/>
          </a:xfrm>
          <a:prstGeom prst="rect">
            <a:avLst/>
          </a:prstGeom>
          <a:solidFill>
            <a:srgbClr val="26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464040" y="0"/>
            <a:ext cx="2727655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0" y="685800"/>
            <a:ext cx="3200400" cy="1097280"/>
          </a:xfrm>
          <a:prstGeom prst="roundRect">
            <a:avLst>
              <a:gd name="adj" fmla="val 12000"/>
            </a:avLst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41080" y="205740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E2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0" y="3063240"/>
            <a:ext cx="2377440" cy="1051560"/>
          </a:xfrm>
          <a:prstGeom prst="roundRect">
            <a:avLst>
              <a:gd name="adj" fmla="val 12000"/>
            </a:avLst>
          </a:prstGeom>
          <a:solidFill>
            <a:srgbClr val="DC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95360" y="4434840"/>
            <a:ext cx="2926080" cy="685800"/>
          </a:xfrm>
          <a:prstGeom prst="roundRect">
            <a:avLst>
              <a:gd name="adj" fmla="val 12000"/>
            </a:avLst>
          </a:prstGeom>
          <a:solidFill>
            <a:srgbClr val="FD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41080" y="5257800"/>
            <a:ext cx="219456" cy="640080"/>
          </a:xfrm>
          <a:prstGeom prst="roundRect">
            <a:avLst>
              <a:gd name="adj" fmla="val 12000"/>
            </a:avLst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79992" y="4846320"/>
            <a:ext cx="219456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518904" y="4251960"/>
            <a:ext cx="219456" cy="1645920"/>
          </a:xfrm>
          <a:prstGeom prst="roundRect">
            <a:avLst>
              <a:gd name="adj" fmla="val 12000"/>
            </a:avLst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957815" y="4709160"/>
            <a:ext cx="219456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396728" y="3749039"/>
            <a:ext cx="219456" cy="2148840"/>
          </a:xfrm>
          <a:prstGeom prst="roundRect">
            <a:avLst>
              <a:gd name="adj" fmla="val 12000"/>
            </a:avLst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835640" y="4389120"/>
            <a:ext cx="219456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822960"/>
            <a:ext cx="7132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009999"/>
                </a:solidFill>
                <a:latin typeface="Aptos"/>
              </a:defRPr>
            </a:pPr>
            <a:r>
              <a:t>DATA SCIENCE • ECONOMIC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508760"/>
            <a:ext cx="73152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3600" b="1" i="0">
                <a:solidFill>
                  <a:srgbClr val="FFFFFF"/>
                </a:solidFill>
                <a:latin typeface="Aptos"/>
              </a:defRPr>
            </a:pPr>
            <a:r>
              <a:t>UNEMPLOYMENT</a:t>
            </a:r>
          </a:p>
          <a:p>
            <a:pPr algn="l">
              <a:spcAft>
                <a:spcPts val="500"/>
              </a:spcAft>
              <a:defRPr sz="3600" b="1" i="0">
                <a:solidFill>
                  <a:srgbClr val="FFFFFF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429000"/>
            <a:ext cx="71323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100" b="0" i="0">
                <a:solidFill>
                  <a:srgbClr val="DAE3F0"/>
                </a:solidFill>
                <a:latin typeface="Aptos"/>
              </a:defRPr>
            </a:pPr>
            <a:r>
              <a:t>Exploratory Data Analysis &amp; Time-Series Forecasting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4389120"/>
            <a:ext cx="822960" cy="54864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754880"/>
            <a:ext cx="5212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Prepared by John Kapungu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25780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BECCE1"/>
                </a:solidFill>
                <a:latin typeface="Aptos"/>
              </a:defRPr>
            </a:pPr>
            <a:r>
              <a:t>Python • Pandas • Scikit-learn • Statsmodels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6263640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BECCE1"/>
                </a:solidFill>
                <a:latin typeface="Aptos"/>
              </a:defRPr>
            </a:pPr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999"/>
                </a:solidFill>
                <a:latin typeface="Aptos"/>
              </a:defRPr>
            </a:pPr>
            <a:r>
              <a:t>01 •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11F3A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71016"/>
            <a:ext cx="777240" cy="4572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 i="0">
                <a:solidFill>
                  <a:srgbClr val="5B687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55664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B687E"/>
                </a:solidFill>
                <a:latin typeface="Aptos"/>
              </a:defRPr>
            </a:pPr>
            <a:r>
              <a:t>UNEMPLOYMENT ANALYSIS •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06984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202A3A"/>
                </a:solidFill>
                <a:latin typeface="Aptos"/>
              </a:defRPr>
            </a:pPr>
            <a:r>
              <a:t>This project explores historical unemployment patterns and evaluates forecasting methods to support evidence-informed labor-market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88920"/>
            <a:ext cx="3456432" cy="2148840"/>
          </a:xfrm>
          <a:prstGeom prst="roundRect">
            <a:avLst>
              <a:gd name="adj" fmla="val 12000"/>
            </a:avLst>
          </a:prstGeom>
          <a:solidFill>
            <a:srgbClr val="E2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971800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265BA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01568"/>
            <a:ext cx="2926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200" b="1" i="0">
                <a:solidFill>
                  <a:srgbClr val="111F3A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04487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02A3A"/>
                </a:solidFill>
                <a:latin typeface="Aptos"/>
              </a:defRPr>
            </a:pPr>
            <a:r>
              <a:t>Clean data and explore trends, seasonality, unusual observations, and the COVID-19 period.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2788920"/>
            <a:ext cx="3456432" cy="2148840"/>
          </a:xfrm>
          <a:prstGeom prst="roundRect">
            <a:avLst>
              <a:gd name="adj" fmla="val 12000"/>
            </a:avLst>
          </a:prstGeom>
          <a:solidFill>
            <a:srgbClr val="DC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54296" y="2971800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00999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3401568"/>
            <a:ext cx="2926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200" b="1" i="0">
                <a:solidFill>
                  <a:srgbClr val="111F3A"/>
                </a:solidFill>
                <a:latin typeface="Aptos"/>
              </a:defRPr>
            </a:pPr>
            <a:r>
              <a:t>Forecast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3904487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02A3A"/>
                </a:solidFill>
                <a:latin typeface="Aptos"/>
              </a:defRPr>
            </a:pPr>
            <a:r>
              <a:t>Compare a mean baseline, persistence baseline, Random Forest, and ARIMA.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2788920"/>
            <a:ext cx="3456432" cy="2148840"/>
          </a:xfrm>
          <a:prstGeom prst="roundRect">
            <a:avLst>
              <a:gd name="adj" fmla="val 12000"/>
            </a:avLst>
          </a:prstGeom>
          <a:solidFill>
            <a:srgbClr val="FD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21624" y="2971800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28E2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3401568"/>
            <a:ext cx="2926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200" b="1" i="0">
                <a:solidFill>
                  <a:srgbClr val="111F3A"/>
                </a:solidFill>
                <a:latin typeface="Aptos"/>
              </a:defRPr>
            </a:pPr>
            <a:r>
              <a:t>Inform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3904487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02A3A"/>
                </a:solidFill>
                <a:latin typeface="Aptos"/>
              </a:defRPr>
            </a:pPr>
            <a:r>
              <a:t>Translate verified patterns into practical questions for employment planning and policy.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8640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11F3A"/>
                </a:solidFill>
                <a:latin typeface="Aptos"/>
              </a:defRPr>
            </a:pPr>
            <a:r>
              <a:t>Headline result: the persistence baseline had the lowest reported MAE and RMSE.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999"/>
                </a:solidFill>
                <a:latin typeface="Aptos"/>
              </a:defRPr>
            </a:pPr>
            <a:r>
              <a:t>01 •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11F3A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71016"/>
            <a:ext cx="777240" cy="4572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 i="0">
                <a:solidFill>
                  <a:srgbClr val="5B687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55664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B687E"/>
                </a:solidFill>
                <a:latin typeface="Aptos"/>
              </a:defRPr>
            </a:pPr>
            <a:r>
              <a:t>UNEMPLOYMENT ANALYSIS • PYTHON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801368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" y="1691640"/>
            <a:ext cx="10186416" cy="8321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900" b="0" i="0">
                <a:solidFill>
                  <a:srgbClr val="202A3A"/>
                </a:solidFill>
                <a:latin typeface="Aptos"/>
              </a:defRPr>
            </a:pPr>
            <a:r>
              <a:t>Prepare a reliable dataset through cleaning and preprocessing.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651760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0704" y="2542032"/>
            <a:ext cx="10186416" cy="8321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900" b="0" i="0">
                <a:solidFill>
                  <a:srgbClr val="202A3A"/>
                </a:solidFill>
                <a:latin typeface="Aptos"/>
              </a:defRPr>
            </a:pPr>
            <a:r>
              <a:t>Explore unemployment trends over time and investigate the COVID-19 period.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02152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0704" y="3392424"/>
            <a:ext cx="10186416" cy="8321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900" b="0" i="0">
                <a:solidFill>
                  <a:srgbClr val="202A3A"/>
                </a:solidFill>
                <a:latin typeface="Aptos"/>
              </a:defRPr>
            </a:pPr>
            <a:r>
              <a:t>Examine monthly or quarterly patterns and flag statistical outliers.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352544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0704" y="4242816"/>
            <a:ext cx="10186416" cy="8321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900" b="0" i="0">
                <a:solidFill>
                  <a:srgbClr val="202A3A"/>
                </a:solidFill>
                <a:latin typeface="Aptos"/>
              </a:defRPr>
            </a:pPr>
            <a:r>
              <a:t>Engineer historical features and evaluate forecasting models.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202936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0704" y="5093208"/>
            <a:ext cx="10186416" cy="8321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900" b="0" i="0">
                <a:solidFill>
                  <a:srgbClr val="202A3A"/>
                </a:solidFill>
                <a:latin typeface="Aptos"/>
              </a:defRPr>
            </a:pPr>
            <a:r>
              <a:t>Develop evidence-informed policy implications while recognizing analytical limits.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897880"/>
            <a:ext cx="10561320" cy="320040"/>
          </a:xfrm>
          <a:prstGeom prst="roundRect">
            <a:avLst>
              <a:gd name="adj" fmla="val 12000"/>
            </a:avLst>
          </a:prstGeom>
          <a:solidFill>
            <a:srgbClr val="E2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5925312"/>
            <a:ext cx="10149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265BA6"/>
                </a:solidFill>
                <a:latin typeface="Aptos"/>
              </a:defRPr>
            </a:pPr>
            <a:r>
              <a:t>Guiding principle: conclusions must be supported by observed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999"/>
                </a:solidFill>
                <a:latin typeface="Aptos"/>
              </a:defRPr>
            </a:pPr>
            <a:r>
              <a:t>02 •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11F3A"/>
                </a:solidFill>
                <a:latin typeface="Aptos"/>
              </a:defRPr>
            </a:pPr>
            <a:r>
              <a:t>Analytical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71016"/>
            <a:ext cx="777240" cy="4572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 i="0">
                <a:solidFill>
                  <a:srgbClr val="5B687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55664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B687E"/>
                </a:solidFill>
                <a:latin typeface="Aptos"/>
              </a:defRPr>
            </a:pPr>
            <a:r>
              <a:t>UNEMPLOYMENT ANALYSIS • 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34015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60120" y="187452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26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901952"/>
            <a:ext cx="4389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74520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11F3A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2971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5B687E"/>
                </a:solidFill>
                <a:latin typeface="Aptos"/>
              </a:defRPr>
            </a:pPr>
            <a:r>
              <a:t>Structure, types, missingness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691640"/>
            <a:ext cx="34015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54880" y="187452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1901952"/>
            <a:ext cx="4389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1874520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11F3A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468880"/>
            <a:ext cx="2971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5B687E"/>
                </a:solidFill>
                <a:latin typeface="Aptos"/>
              </a:defRPr>
            </a:pPr>
            <a:r>
              <a:t>Dates, duplicates, invalid values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691640"/>
            <a:ext cx="34015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549640" y="187452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49640" y="1901952"/>
            <a:ext cx="4389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874520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11F3A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468880"/>
            <a:ext cx="2971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5B687E"/>
                </a:solidFill>
                <a:latin typeface="Aptos"/>
              </a:defRPr>
            </a:pPr>
            <a:r>
              <a:t>Distributions and time trends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703320"/>
            <a:ext cx="34015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60120" y="388620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26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3913632"/>
            <a:ext cx="4389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886200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11F3A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480560"/>
            <a:ext cx="2971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5B687E"/>
                </a:solidFill>
                <a:latin typeface="Aptos"/>
              </a:defRPr>
            </a:pPr>
            <a:r>
              <a:t>COVID-19, seasonality, outliers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3703320"/>
            <a:ext cx="34015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754880" y="388620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0" y="3913632"/>
            <a:ext cx="4389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3886200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11F3A"/>
                </a:solidFill>
                <a:latin typeface="Aptos"/>
              </a:defRPr>
            </a:pPr>
            <a:r>
              <a:t>Engineer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480560"/>
            <a:ext cx="2971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5B687E"/>
                </a:solidFill>
                <a:latin typeface="Aptos"/>
              </a:defRPr>
            </a:pPr>
            <a:r>
              <a:t>Lags, rolling means, calendar features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3703320"/>
            <a:ext cx="34015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549640" y="388620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49640" y="3913632"/>
            <a:ext cx="4389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886200"/>
            <a:ext cx="2331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11F3A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480560"/>
            <a:ext cx="2971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5B687E"/>
                </a:solidFill>
                <a:latin typeface="Aptos"/>
              </a:defRPr>
            </a:pPr>
            <a:r>
              <a:t>Chronological split and error metrics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98932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A"/>
                </a:solidFill>
                <a:latin typeface="Aptos"/>
              </a:defRPr>
            </a:pPr>
            <a:r>
              <a:t>Chronological evaluation helps avoid using future observations to predict the past.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999"/>
                </a:solidFill>
                <a:latin typeface="Aptos"/>
              </a:defRPr>
            </a:pPr>
            <a:r>
              <a:t>02 •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11F3A"/>
                </a:solidFill>
                <a:latin typeface="Aptos"/>
              </a:defRPr>
            </a:pPr>
            <a:r>
              <a:t>Data &amp; Preparation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71016"/>
            <a:ext cx="777240" cy="4572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 i="0">
                <a:solidFill>
                  <a:srgbClr val="5B687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55664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B687E"/>
                </a:solidFill>
                <a:latin typeface="Aptos"/>
              </a:defRPr>
            </a:pPr>
            <a:r>
              <a:t>UNEMPLOYMENT ANALYSIS • 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3891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200" b="1" i="0">
                <a:solidFill>
                  <a:srgbClr val="111F3A"/>
                </a:solidFill>
                <a:latin typeface="Aptos"/>
              </a:defRPr>
            </a:pPr>
            <a:r>
              <a:t>Core analytical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4297680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 i="0">
                <a:solidFill>
                  <a:srgbClr val="202A3A"/>
                </a:solidFill>
                <a:latin typeface="Aptos"/>
              </a:defRPr>
            </a:pPr>
            <a:r>
              <a:t>date</a:t>
            </a:r>
          </a:p>
          <a:p>
            <a:pPr algn="l">
              <a:spcAft>
                <a:spcPts val="500"/>
              </a:spcAft>
              <a:defRPr sz="1700" b="0" i="0">
                <a:solidFill>
                  <a:srgbClr val="202A3A"/>
                </a:solidFill>
                <a:latin typeface="Aptos"/>
              </a:defRPr>
            </a:pPr>
            <a:r>
              <a:t>Timestamp used to order observations.</a:t>
            </a:r>
          </a:p>
          <a:p>
            <a:pPr algn="l">
              <a:spcAft>
                <a:spcPts val="500"/>
              </a:spcAft>
              <a:defRPr sz="1700" b="0" i="0">
                <a:solidFill>
                  <a:srgbClr val="202A3A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700" b="0" i="0">
                <a:solidFill>
                  <a:srgbClr val="202A3A"/>
                </a:solidFill>
                <a:latin typeface="Aptos"/>
              </a:defRPr>
            </a:pPr>
            <a:r>
              <a:t>unemployment_rate</a:t>
            </a:r>
          </a:p>
          <a:p>
            <a:pPr algn="l">
              <a:spcAft>
                <a:spcPts val="500"/>
              </a:spcAft>
              <a:defRPr sz="1700" b="0" i="0">
                <a:solidFill>
                  <a:srgbClr val="202A3A"/>
                </a:solidFill>
                <a:latin typeface="Aptos"/>
              </a:defRPr>
            </a:pPr>
            <a:r>
              <a:t>Target variable for trend analysis and forecasting.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257800" cy="4206240"/>
          </a:xfrm>
          <a:prstGeom prst="roundRect">
            <a:avLst>
              <a:gd name="adj" fmla="val 12000"/>
            </a:avLst>
          </a:prstGeom>
          <a:solidFill>
            <a:srgbClr val="E2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4480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200" b="1" i="0">
                <a:solidFill>
                  <a:srgbClr val="111F3A"/>
                </a:solidFill>
                <a:latin typeface="Aptos"/>
              </a:defRPr>
            </a:pPr>
            <a:r>
              <a:t>Preparation checklist</a:t>
            </a:r>
          </a:p>
        </p:txBody>
      </p:sp>
      <p:sp>
        <p:nvSpPr>
          <p:cNvPr id="13" name="Oval 12"/>
          <p:cNvSpPr/>
          <p:nvPr/>
        </p:nvSpPr>
        <p:spPr>
          <a:xfrm>
            <a:off x="6492240" y="2715768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29983" y="2606040"/>
            <a:ext cx="4288536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02A3A"/>
                </a:solidFill>
                <a:latin typeface="Aptos"/>
              </a:defRPr>
            </a:pPr>
            <a:r>
              <a:t>Convert dates and sort chronologically</a:t>
            </a:r>
          </a:p>
        </p:txBody>
      </p:sp>
      <p:sp>
        <p:nvSpPr>
          <p:cNvPr id="15" name="Oval 14"/>
          <p:cNvSpPr/>
          <p:nvPr/>
        </p:nvSpPr>
        <p:spPr>
          <a:xfrm>
            <a:off x="6492240" y="3264408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9983" y="3154680"/>
            <a:ext cx="4288536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02A3A"/>
                </a:solidFill>
                <a:latin typeface="Aptos"/>
              </a:defRPr>
            </a:pPr>
            <a:r>
              <a:t>Check missing values and duplicates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0" y="3813048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9983" y="3703320"/>
            <a:ext cx="4288536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02A3A"/>
                </a:solidFill>
                <a:latin typeface="Aptos"/>
              </a:defRPr>
            </a:pPr>
            <a:r>
              <a:t>Validate the target variable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4361688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9983" y="4251960"/>
            <a:ext cx="4288536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02A3A"/>
                </a:solidFill>
                <a:latin typeface="Aptos"/>
              </a:defRPr>
            </a:pPr>
            <a:r>
              <a:t>Inspect observation frequency and gaps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4910328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9983" y="4800600"/>
            <a:ext cx="4288536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02A3A"/>
                </a:solidFill>
                <a:latin typeface="Aptos"/>
              </a:defRPr>
            </a:pPr>
            <a:r>
              <a:t>Save a cleaned dataset for reproducibility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10698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1">
                <a:solidFill>
                  <a:srgbClr val="5B687E"/>
                </a:solidFill>
                <a:latin typeface="Aptos"/>
              </a:defRPr>
            </a:pPr>
            <a:r>
              <a:t>Final report should specify the actual source, date range, row count, and frequency.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999"/>
                </a:solidFill>
                <a:latin typeface="Aptos"/>
              </a:defRPr>
            </a:pPr>
            <a:r>
              <a:t>03 •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11F3A"/>
                </a:solidFill>
                <a:latin typeface="Aptos"/>
              </a:defRPr>
            </a:pPr>
            <a:r>
              <a:t>Exploratory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71016"/>
            <a:ext cx="777240" cy="4572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 i="0">
                <a:solidFill>
                  <a:srgbClr val="5B687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55664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B687E"/>
                </a:solidFill>
                <a:latin typeface="Aptos"/>
              </a:defRPr>
            </a:pPr>
            <a:r>
              <a:t>UNEMPLOYMENT ANALYSIS • 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5074920" cy="1554480"/>
          </a:xfrm>
          <a:prstGeom prst="roundRect">
            <a:avLst>
              <a:gd name="adj" fmla="val 12000"/>
            </a:avLst>
          </a:prstGeom>
          <a:solidFill>
            <a:srgbClr val="E2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1892808"/>
            <a:ext cx="4480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265BA6"/>
                </a:solidFill>
                <a:latin typeface="Aptos"/>
              </a:defRPr>
            </a:pPr>
            <a:r>
              <a:t>Trend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404872"/>
            <a:ext cx="44805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02A3A"/>
                </a:solidFill>
                <a:latin typeface="Aptos"/>
              </a:defRPr>
            </a:pPr>
            <a:r>
              <a:t>Track rises, falls, and longer-term changes in unemployment.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074920" cy="1554480"/>
          </a:xfrm>
          <a:prstGeom prst="roundRect">
            <a:avLst>
              <a:gd name="adj" fmla="val 12000"/>
            </a:avLst>
          </a:prstGeom>
          <a:solidFill>
            <a:srgbClr val="FD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1892808"/>
            <a:ext cx="4480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F28E2B"/>
                </a:solidFill>
                <a:latin typeface="Aptos"/>
              </a:defRPr>
            </a:pPr>
            <a:r>
              <a:t>COVID-19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04872"/>
            <a:ext cx="44805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02A3A"/>
                </a:solidFill>
                <a:latin typeface="Aptos"/>
              </a:defRPr>
            </a:pPr>
            <a:r>
              <a:t>Compare pre-pandemic, pandemic, and recovery periods where coverage allows.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57600"/>
            <a:ext cx="5074920" cy="1554480"/>
          </a:xfrm>
          <a:prstGeom prst="roundRect">
            <a:avLst>
              <a:gd name="adj" fmla="val 12000"/>
            </a:avLst>
          </a:prstGeom>
          <a:solidFill>
            <a:srgbClr val="DC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1" y="3858768"/>
            <a:ext cx="4480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009999"/>
                </a:solidFill>
                <a:latin typeface="Aptos"/>
              </a:defRPr>
            </a:pPr>
            <a:r>
              <a:t>Seasonality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4370832"/>
            <a:ext cx="44805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02A3A"/>
                </a:solidFill>
                <a:latin typeface="Aptos"/>
              </a:defRPr>
            </a:pPr>
            <a:r>
              <a:t>Use monthly/quarterly summaries and heatmaps to investigate recurring patterns.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57600"/>
            <a:ext cx="507492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9672" y="3858768"/>
            <a:ext cx="4480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265BA6"/>
                </a:solidFill>
                <a:latin typeface="Aptos"/>
              </a:defRPr>
            </a:pPr>
            <a:r>
              <a:t>Outliers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4370832"/>
            <a:ext cx="44805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02A3A"/>
                </a:solidFill>
                <a:latin typeface="Aptos"/>
              </a:defRPr>
            </a:pPr>
            <a:r>
              <a:t>Use IQR as a screening tool; investigate rather than automatically remove extremes.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943600"/>
            <a:ext cx="10607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1">
                <a:solidFill>
                  <a:srgbClr val="5B687E"/>
                </a:solidFill>
                <a:latin typeface="Aptos"/>
              </a:defRPr>
            </a:pPr>
            <a:r>
              <a:t>Important: these are analytical questions; report specific patterns only after verifying the saved plots and statistics.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999"/>
                </a:solidFill>
                <a:latin typeface="Aptos"/>
              </a:defRPr>
            </a:pPr>
            <a:r>
              <a:t>04 •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11F3A"/>
                </a:solidFill>
                <a:latin typeface="Aptos"/>
              </a:defRPr>
            </a:pPr>
            <a:r>
              <a:t>Forecasting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71016"/>
            <a:ext cx="777240" cy="4572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 i="0">
                <a:solidFill>
                  <a:srgbClr val="5B687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55664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B687E"/>
                </a:solidFill>
                <a:latin typeface="Aptos"/>
              </a:defRPr>
            </a:pPr>
            <a:r>
              <a:t>UNEMPLOYMENT ANALYSIS • 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5074920" cy="1554480"/>
          </a:xfrm>
          <a:prstGeom prst="roundRect">
            <a:avLst>
              <a:gd name="adj" fmla="val 12000"/>
            </a:avLst>
          </a:prstGeom>
          <a:solidFill>
            <a:srgbClr val="E2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691640"/>
            <a:ext cx="109728" cy="1554480"/>
          </a:xfrm>
          <a:prstGeom prst="rect">
            <a:avLst/>
          </a:prstGeom>
          <a:solidFill>
            <a:srgbClr val="26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1892808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111F3A"/>
                </a:solidFill>
                <a:latin typeface="Aptos"/>
              </a:defRPr>
            </a:pPr>
            <a:r>
              <a:t>Mean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404872"/>
            <a:ext cx="44348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02A3A"/>
                </a:solidFill>
                <a:latin typeface="Aptos"/>
              </a:defRPr>
            </a:pPr>
            <a:r>
              <a:t>Predicts the training-period average.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5074920" cy="1554480"/>
          </a:xfrm>
          <a:prstGeom prst="roundRect">
            <a:avLst>
              <a:gd name="adj" fmla="val 12000"/>
            </a:avLst>
          </a:prstGeom>
          <a:solidFill>
            <a:srgbClr val="DC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691640"/>
            <a:ext cx="109728" cy="1554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1892808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111F3A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404872"/>
            <a:ext cx="44348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02A3A"/>
                </a:solidFill>
                <a:latin typeface="Aptos"/>
              </a:defRPr>
            </a:pPr>
            <a:r>
              <a:t>Uses the previous observation as the next forecast.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57600"/>
            <a:ext cx="5074920" cy="1554480"/>
          </a:xfrm>
          <a:prstGeom prst="roundRect">
            <a:avLst>
              <a:gd name="adj" fmla="val 12000"/>
            </a:avLst>
          </a:prstGeom>
          <a:solidFill>
            <a:srgbClr val="FD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3657600"/>
            <a:ext cx="109728" cy="155448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" y="3858768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111F3A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370832"/>
            <a:ext cx="44348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02A3A"/>
                </a:solidFill>
                <a:latin typeface="Aptos"/>
              </a:defRPr>
            </a:pPr>
            <a:r>
              <a:t>Learns nonlinear relationships from lag and rolling features.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57600"/>
            <a:ext cx="507492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3657600"/>
            <a:ext cx="109728" cy="1554480"/>
          </a:xfrm>
          <a:prstGeom prst="rect">
            <a:avLst/>
          </a:prstGeom>
          <a:solidFill>
            <a:srgbClr val="11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6248" y="3858768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111F3A"/>
                </a:solidFill>
                <a:latin typeface="Aptos"/>
              </a:defRPr>
            </a:pPr>
            <a:r>
              <a:t>ARIMA(1,1,1)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370832"/>
            <a:ext cx="44348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02A3A"/>
                </a:solidFill>
                <a:latin typeface="Aptos"/>
              </a:defRPr>
            </a:pPr>
            <a:r>
              <a:t>Statistical time-series model with differencing.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A"/>
                </a:solidFill>
                <a:latin typeface="Aptos"/>
              </a:defRPr>
            </a:pPr>
            <a:r>
              <a:t>Evaluation metrics: MAE and RMSE — lower values indicate smaller forecast errors.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999"/>
                </a:solidFill>
                <a:latin typeface="Aptos"/>
              </a:defRPr>
            </a:pPr>
            <a:r>
              <a:t>04 •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11F3A"/>
                </a:solidFill>
                <a:latin typeface="Aptos"/>
              </a:defRPr>
            </a:pPr>
            <a:r>
              <a:t>Reported Model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71016"/>
            <a:ext cx="777240" cy="4572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 i="0">
                <a:solidFill>
                  <a:srgbClr val="5B68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55664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B687E"/>
                </a:solidFill>
                <a:latin typeface="Aptos"/>
              </a:defRPr>
            </a:pPr>
            <a:r>
              <a:t>UNEMPLOYMENT ANALYSIS •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5B687E"/>
                </a:solidFill>
                <a:latin typeface="Aptos"/>
              </a:defRPr>
            </a:pPr>
            <a:r>
              <a:t>Lower is better for both 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4754880" cy="566928"/>
          </a:xfrm>
          <a:prstGeom prst="rect">
            <a:avLst/>
          </a:prstGeom>
          <a:solidFill>
            <a:srgbClr val="11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2011680"/>
            <a:ext cx="2011680" cy="566928"/>
          </a:xfrm>
          <a:prstGeom prst="rect">
            <a:avLst/>
          </a:prstGeom>
          <a:solidFill>
            <a:srgbClr val="11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0" y="2130552"/>
            <a:ext cx="1737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MAE 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3800" y="2011680"/>
            <a:ext cx="2011680" cy="566928"/>
          </a:xfrm>
          <a:prstGeom prst="rect">
            <a:avLst/>
          </a:prstGeom>
          <a:solidFill>
            <a:srgbClr val="11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0" y="2130552"/>
            <a:ext cx="1737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RMSE 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578608"/>
            <a:ext cx="4754880" cy="658368"/>
          </a:xfrm>
          <a:prstGeom prst="rect">
            <a:avLst/>
          </a:prstGeom>
          <a:solidFill>
            <a:srgbClr val="DCF3F1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734056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11F3A"/>
                </a:solidFill>
                <a:latin typeface="Aptos"/>
              </a:defRPr>
            </a:pPr>
            <a:r>
              <a:t>Persistence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32120" y="2578608"/>
            <a:ext cx="2011680" cy="658368"/>
          </a:xfrm>
          <a:prstGeom prst="rect">
            <a:avLst/>
          </a:prstGeom>
          <a:solidFill>
            <a:srgbClr val="DCF3F1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0" y="2734056"/>
            <a:ext cx="1737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700" b="1" i="0">
                <a:solidFill>
                  <a:srgbClr val="111F3A"/>
                </a:solidFill>
                <a:latin typeface="Aptos"/>
              </a:defRPr>
            </a:pPr>
            <a:r>
              <a:t>9.049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800" y="2578608"/>
            <a:ext cx="2011680" cy="658368"/>
          </a:xfrm>
          <a:prstGeom prst="rect">
            <a:avLst/>
          </a:prstGeom>
          <a:solidFill>
            <a:srgbClr val="DCF3F1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0" y="2734056"/>
            <a:ext cx="1737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700" b="1" i="0">
                <a:solidFill>
                  <a:srgbClr val="111F3A"/>
                </a:solidFill>
                <a:latin typeface="Aptos"/>
              </a:defRPr>
            </a:pPr>
            <a:r>
              <a:t>10.603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236976"/>
            <a:ext cx="4754880" cy="658368"/>
          </a:xfrm>
          <a:prstGeom prst="rect">
            <a:avLst/>
          </a:prstGeom>
          <a:solidFill>
            <a:srgbClr val="EFF2F7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392424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111F3A"/>
                </a:solidFill>
                <a:latin typeface="Aptos"/>
              </a:defRPr>
            </a:pPr>
            <a:r>
              <a:t>ARIMA(1,1,1)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2120" y="3236976"/>
            <a:ext cx="2011680" cy="658368"/>
          </a:xfrm>
          <a:prstGeom prst="rect">
            <a:avLst/>
          </a:prstGeom>
          <a:solidFill>
            <a:srgbClr val="EFF2F7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3392424"/>
            <a:ext cx="1737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0" i="0">
                <a:solidFill>
                  <a:srgbClr val="111F3A"/>
                </a:solidFill>
                <a:latin typeface="Aptos"/>
              </a:defRPr>
            </a:pPr>
            <a:r>
              <a:t>9.738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3800" y="3236976"/>
            <a:ext cx="2011680" cy="658368"/>
          </a:xfrm>
          <a:prstGeom prst="rect">
            <a:avLst/>
          </a:prstGeom>
          <a:solidFill>
            <a:srgbClr val="EFF2F7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0" y="3392424"/>
            <a:ext cx="1737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0" i="0">
                <a:solidFill>
                  <a:srgbClr val="111F3A"/>
                </a:solidFill>
                <a:latin typeface="Aptos"/>
              </a:defRPr>
            </a:pPr>
            <a:r>
              <a:t>11.342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895344"/>
            <a:ext cx="47548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050791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111F3A"/>
                </a:solidFill>
                <a:latin typeface="Aptos"/>
              </a:defRPr>
            </a:pPr>
            <a:r>
              <a:t>Tuned Random Forest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32120" y="3895344"/>
            <a:ext cx="20116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0" y="4050791"/>
            <a:ext cx="1737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0" i="0">
                <a:solidFill>
                  <a:srgbClr val="111F3A"/>
                </a:solidFill>
                <a:latin typeface="Aptos"/>
              </a:defRPr>
            </a:pPr>
            <a:r>
              <a:t>9.895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3800" y="3895344"/>
            <a:ext cx="20116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80960" y="4050791"/>
            <a:ext cx="1737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0" i="0">
                <a:solidFill>
                  <a:srgbClr val="111F3A"/>
                </a:solidFill>
                <a:latin typeface="Aptos"/>
              </a:defRPr>
            </a:pPr>
            <a:r>
              <a:t>11.474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553712"/>
            <a:ext cx="4754880" cy="658368"/>
          </a:xfrm>
          <a:prstGeom prst="rect">
            <a:avLst/>
          </a:prstGeom>
          <a:solidFill>
            <a:srgbClr val="EFF2F7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709160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111F3A"/>
                </a:solidFill>
                <a:latin typeface="Aptos"/>
              </a:defRPr>
            </a:pPr>
            <a:r>
              <a:t>Mean Baseline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4553712"/>
            <a:ext cx="2011680" cy="658368"/>
          </a:xfrm>
          <a:prstGeom prst="rect">
            <a:avLst/>
          </a:prstGeom>
          <a:solidFill>
            <a:srgbClr val="EFF2F7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0" y="4709160"/>
            <a:ext cx="1737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0" i="0">
                <a:solidFill>
                  <a:srgbClr val="111F3A"/>
                </a:solidFill>
                <a:latin typeface="Aptos"/>
              </a:defRPr>
            </a:pPr>
            <a:r>
              <a:t>10.319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43800" y="4553712"/>
            <a:ext cx="2011680" cy="658368"/>
          </a:xfrm>
          <a:prstGeom prst="rect">
            <a:avLst/>
          </a:prstGeom>
          <a:solidFill>
            <a:srgbClr val="EFF2F7"/>
          </a:solidFill>
          <a:ln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80960" y="4709160"/>
            <a:ext cx="1737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0" i="0">
                <a:solidFill>
                  <a:srgbClr val="111F3A"/>
                </a:solidFill>
                <a:latin typeface="Aptos"/>
              </a:defRPr>
            </a:pPr>
            <a:r>
              <a:t>11.860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440680"/>
            <a:ext cx="8778240" cy="594360"/>
          </a:xfrm>
          <a:prstGeom prst="roundRect">
            <a:avLst>
              <a:gd name="adj" fmla="val 12000"/>
            </a:avLst>
          </a:prstGeom>
          <a:solidFill>
            <a:srgbClr val="FD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87552" y="5596128"/>
            <a:ext cx="8366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11F3A"/>
                </a:solidFill>
                <a:latin typeface="Aptos"/>
              </a:defRPr>
            </a:pPr>
            <a:r>
              <a:t>Preliminary ranking: persistence baseline leads on both reported metrics.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6080760"/>
            <a:ext cx="10607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1">
                <a:solidFill>
                  <a:srgbClr val="5B687E"/>
                </a:solidFill>
                <a:latin typeface="Aptos"/>
              </a:defRPr>
            </a:pPr>
            <a:r>
              <a:t>Confirm all models use the same test dates before treating this ranking as final.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999"/>
                </a:solidFill>
                <a:latin typeface="Aptos"/>
              </a:defRPr>
            </a:pPr>
            <a:r>
              <a:t>05 •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11F3A"/>
                </a:solidFill>
                <a:latin typeface="Aptos"/>
              </a:defRPr>
            </a:pPr>
            <a:r>
              <a:t>What the Results Suggest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71016"/>
            <a:ext cx="777240" cy="4572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 i="0">
                <a:solidFill>
                  <a:srgbClr val="5B687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55664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B687E"/>
                </a:solidFill>
                <a:latin typeface="Aptos"/>
              </a:defRPr>
            </a:pPr>
            <a:r>
              <a:t>UNEMPLOYMENT ANALYSIS • PYTHON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847088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" y="1737360"/>
            <a:ext cx="10186416" cy="8503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900" b="0" i="0">
                <a:solidFill>
                  <a:srgbClr val="202A3A"/>
                </a:solidFill>
                <a:latin typeface="Aptos"/>
              </a:defRPr>
            </a:pPr>
            <a:r>
              <a:t>A simple persistence forecast was the strongest reported benchmark.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15768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0704" y="2606039"/>
            <a:ext cx="10186416" cy="8503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900" b="0" i="0">
                <a:solidFill>
                  <a:srgbClr val="202A3A"/>
                </a:solidFill>
                <a:latin typeface="Aptos"/>
              </a:defRPr>
            </a:pPr>
            <a:r>
              <a:t>ARIMA ranked second, while tuned Random Forest did not improve on persistence.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84448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0704" y="3474720"/>
            <a:ext cx="10186416" cy="8503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900" b="0" i="0">
                <a:solidFill>
                  <a:srgbClr val="202A3A"/>
                </a:solidFill>
                <a:latin typeface="Aptos"/>
              </a:defRPr>
            </a:pPr>
            <a:r>
              <a:t>Complexity alone does not guarantee stronger forecasting accuracy.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453128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0704" y="4343400"/>
            <a:ext cx="10186416" cy="8503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900" b="0" i="0">
                <a:solidFill>
                  <a:srgbClr val="202A3A"/>
                </a:solidFill>
                <a:latin typeface="Aptos"/>
              </a:defRPr>
            </a:pPr>
            <a:r>
              <a:t>Performance may vary across different time periods and economic conditions.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440680"/>
            <a:ext cx="10561320" cy="685800"/>
          </a:xfrm>
          <a:prstGeom prst="roundRect">
            <a:avLst>
              <a:gd name="adj" fmla="val 12000"/>
            </a:avLst>
          </a:prstGeom>
          <a:solidFill>
            <a:srgbClr val="E2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623560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265BA6"/>
                </a:solidFill>
                <a:latin typeface="Aptos"/>
              </a:defRPr>
            </a:pPr>
            <a:r>
              <a:t>Interpretation caution: if rates are stored as percentages, MAE/RMSE are in percentage points.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999"/>
                </a:solidFill>
                <a:latin typeface="Aptos"/>
              </a:defRPr>
            </a:pPr>
            <a:r>
              <a:t>06 •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11F3A"/>
                </a:solidFill>
                <a:latin typeface="Aptos"/>
              </a:defRPr>
            </a:pPr>
            <a:r>
              <a:t>Potential Policy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71016"/>
            <a:ext cx="777240" cy="4572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 i="0">
                <a:solidFill>
                  <a:srgbClr val="5B687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55664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B687E"/>
                </a:solidFill>
                <a:latin typeface="Aptos"/>
              </a:defRPr>
            </a:pPr>
            <a:r>
              <a:t>UNEMPLOYMENT ANALYSIS • 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1417320" cy="530352"/>
          </a:xfrm>
          <a:prstGeom prst="roundRect">
            <a:avLst>
              <a:gd name="adj" fmla="val 12000"/>
            </a:avLst>
          </a:prstGeom>
          <a:solidFill>
            <a:srgbClr val="26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19072"/>
            <a:ext cx="1234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673352"/>
            <a:ext cx="8412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202A3A"/>
                </a:solidFill>
                <a:latin typeface="Aptos"/>
              </a:defRPr>
            </a:pPr>
            <a:r>
              <a:t>Use regularly updated indicators to identify rising unemployment.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41448"/>
            <a:ext cx="1417320" cy="530352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234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514600"/>
            <a:ext cx="8412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202A3A"/>
                </a:solidFill>
                <a:latin typeface="Aptos"/>
              </a:defRPr>
            </a:pPr>
            <a:r>
              <a:t>Use demographic and regional evidence to focus training and job-placement support.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82696"/>
            <a:ext cx="1417320" cy="530352"/>
          </a:xfrm>
          <a:prstGeom prst="roundRect">
            <a:avLst>
              <a:gd name="adj" fmla="val 12000"/>
            </a:avLst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8"/>
            <a:ext cx="1234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355848"/>
            <a:ext cx="8412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202A3A"/>
                </a:solidFill>
                <a:latin typeface="Aptos"/>
              </a:defRPr>
            </a:pPr>
            <a:r>
              <a:t>Consider contingency measures for future economic shocks if the analysis supports this.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23944"/>
            <a:ext cx="1417320" cy="530352"/>
          </a:xfrm>
          <a:prstGeom prst="roundRect">
            <a:avLst>
              <a:gd name="adj" fmla="val 12000"/>
            </a:avLst>
          </a:prstGeom>
          <a:solidFill>
            <a:srgbClr val="11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242816"/>
            <a:ext cx="1234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4197096"/>
            <a:ext cx="8412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202A3A"/>
                </a:solidFill>
                <a:latin typeface="Aptos"/>
              </a:defRPr>
            </a:pPr>
            <a:r>
              <a:t>Use forecasts as planning signals, not as certain predictions.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965192"/>
            <a:ext cx="1417320" cy="530352"/>
          </a:xfrm>
          <a:prstGeom prst="roundRect">
            <a:avLst>
              <a:gd name="adj" fmla="val 12000"/>
            </a:avLst>
          </a:prstGeom>
          <a:solidFill>
            <a:srgbClr val="26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084064"/>
            <a:ext cx="1234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5038344"/>
            <a:ext cx="8412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202A3A"/>
                </a:solidFill>
                <a:latin typeface="Aptos"/>
              </a:defRPr>
            </a:pPr>
            <a:r>
              <a:t>Measure interventions over time and use credible evaluation methods.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1">
                <a:solidFill>
                  <a:srgbClr val="5B687E"/>
                </a:solidFill>
                <a:latin typeface="Aptos"/>
              </a:defRPr>
            </a:pPr>
            <a:r>
              <a:t>Recommendations should be tied to observed dataset patterns; association does not prove causation.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999"/>
                </a:solidFill>
                <a:latin typeface="Aptos"/>
              </a:defRPr>
            </a:pPr>
            <a:r>
              <a:t>07 •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11F3A"/>
                </a:solidFill>
                <a:latin typeface="Aptos"/>
              </a:defRPr>
            </a:pPr>
            <a:r>
              <a:t>Limitations &amp;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71016"/>
            <a:ext cx="777240" cy="4572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 i="0">
                <a:solidFill>
                  <a:srgbClr val="5B687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55664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B687E"/>
                </a:solidFill>
                <a:latin typeface="Aptos"/>
              </a:defRPr>
            </a:pPr>
            <a:r>
              <a:t>UNEMPLOYMENT ANALYSIS • PYTHON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755648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" y="1645920"/>
            <a:ext cx="10277856" cy="8412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700" b="0" i="0">
                <a:solidFill>
                  <a:srgbClr val="202A3A"/>
                </a:solidFill>
                <a:latin typeface="Aptos"/>
              </a:defRPr>
            </a:pPr>
            <a:r>
              <a:t>Dataset source, date range, frequency, and sample size must be documented.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615184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0704" y="2505456"/>
            <a:ext cx="10277856" cy="8412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700" b="0" i="0">
                <a:solidFill>
                  <a:srgbClr val="202A3A"/>
                </a:solidFill>
                <a:latin typeface="Aptos"/>
              </a:defRPr>
            </a:pPr>
            <a:r>
              <a:t>All models must be evaluated on identical test observations.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474720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0704" y="3364992"/>
            <a:ext cx="10277856" cy="8412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700" b="0" i="0">
                <a:solidFill>
                  <a:srgbClr val="202A3A"/>
                </a:solidFill>
                <a:latin typeface="Aptos"/>
              </a:defRPr>
            </a:pPr>
            <a:r>
              <a:t>Historical unemployment alone may omit important economic drivers.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334256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0704" y="4224528"/>
            <a:ext cx="10277856" cy="8412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700" b="0" i="0">
                <a:solidFill>
                  <a:srgbClr val="202A3A"/>
                </a:solidFill>
                <a:latin typeface="Aptos"/>
              </a:defRPr>
            </a:pPr>
            <a:r>
              <a:t>A single holdout period may not represent future labor-market conditions.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193792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0704" y="5084064"/>
            <a:ext cx="10277856" cy="8412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700" b="0" i="0">
                <a:solidFill>
                  <a:srgbClr val="202A3A"/>
                </a:solidFill>
                <a:latin typeface="Aptos"/>
              </a:defRPr>
            </a:pPr>
            <a:r>
              <a:t>COVID-19 and seasonal associations do not independently establish causation.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989320"/>
            <a:ext cx="10515600" cy="292608"/>
          </a:xfrm>
          <a:prstGeom prst="roundRect">
            <a:avLst>
              <a:gd name="adj" fmla="val 12000"/>
            </a:avLst>
          </a:prstGeom>
          <a:solidFill>
            <a:srgbClr val="DC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6007608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009999"/>
                </a:solidFill>
                <a:latin typeface="Aptos"/>
              </a:defRPr>
            </a:pPr>
            <a:r>
              <a:t>Next validation step: common holdout evaluation and rolling-origin backtesting.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09999"/>
                </a:solidFill>
                <a:latin typeface="Aptos"/>
              </a:defRPr>
            </a:pPr>
            <a:r>
              <a:t>07 •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11F3A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71016"/>
            <a:ext cx="777240" cy="4572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 i="0">
                <a:solidFill>
                  <a:srgbClr val="5B687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55664"/>
            <a:ext cx="5486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5B687E"/>
                </a:solidFill>
                <a:latin typeface="Aptos"/>
              </a:defRPr>
            </a:pPr>
            <a:r>
              <a:t>UNEMPLOYMENT ANALYSIS • PYTHON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801368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" y="1691640"/>
            <a:ext cx="10277856" cy="7863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800" b="0" i="0">
                <a:solidFill>
                  <a:srgbClr val="202A3A"/>
                </a:solidFill>
                <a:latin typeface="Aptos"/>
              </a:defRPr>
            </a:pPr>
            <a:r>
              <a:t>Re-evaluate all models on a shared chronological test set.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606040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0704" y="2496312"/>
            <a:ext cx="10277856" cy="7863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800" b="0" i="0">
                <a:solidFill>
                  <a:srgbClr val="202A3A"/>
                </a:solidFill>
                <a:latin typeface="Aptos"/>
              </a:defRPr>
            </a:pPr>
            <a:r>
              <a:t>Test exponential smoothing and alternative ARIMA configurations.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410712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0704" y="3300984"/>
            <a:ext cx="10277856" cy="7863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800" b="0" i="0">
                <a:solidFill>
                  <a:srgbClr val="202A3A"/>
                </a:solidFill>
                <a:latin typeface="Aptos"/>
              </a:defRPr>
            </a:pPr>
            <a:r>
              <a:t>Add relevant economic indicators where reliable data is available.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215384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0704" y="4105656"/>
            <a:ext cx="10277856" cy="7863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800" b="0" i="0">
                <a:solidFill>
                  <a:srgbClr val="202A3A"/>
                </a:solidFill>
                <a:latin typeface="Aptos"/>
              </a:defRPr>
            </a:pPr>
            <a:r>
              <a:t>Expand analysis by region, age, gender, or sector if supported by the data.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020056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0704" y="4910328"/>
            <a:ext cx="10277856" cy="7863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800" b="0" i="0">
                <a:solidFill>
                  <a:srgbClr val="202A3A"/>
                </a:solidFill>
                <a:latin typeface="Aptos"/>
              </a:defRPr>
            </a:pPr>
            <a:r>
              <a:t>Build a dashboard and publish a reproducible GitHub repository.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11F3A"/>
                </a:solidFill>
                <a:latin typeface="Aptos"/>
              </a:defRPr>
            </a:pPr>
            <a:r>
              <a:t>Deliverables: cleaned data • notebook • saved figures • README • requirements.txt • .gitignore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009999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77240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Start simple.</a:t>
            </a:r>
          </a:p>
          <a:p>
            <a:pPr algn="l">
              <a:spcAft>
                <a:spcPts val="5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Validate rigorously.</a:t>
            </a:r>
          </a:p>
          <a:p>
            <a:pPr algn="l">
              <a:spcAft>
                <a:spcPts val="5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Use data responsibly.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3886200"/>
            <a:ext cx="822960" cy="54864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80467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0" i="0">
                <a:solidFill>
                  <a:srgbClr val="DAE3F0"/>
                </a:solidFill>
                <a:latin typeface="Aptos"/>
              </a:defRPr>
            </a:pPr>
            <a:r>
              <a:t>The persistence baseline had the lowest reported forecast errors, highlighting the value of strong benchmarks.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200" b="1" i="0">
                <a:solidFill>
                  <a:srgbClr val="009999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Oval 7"/>
          <p:cNvSpPr/>
          <p:nvPr/>
        </p:nvSpPr>
        <p:spPr>
          <a:xfrm>
            <a:off x="9144000" y="1005840"/>
            <a:ext cx="1097280" cy="1097280"/>
          </a:xfrm>
          <a:prstGeom prst="ellipse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241280" y="2377440"/>
            <a:ext cx="822960" cy="822960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0" y="3108960"/>
            <a:ext cx="1463040" cy="1463040"/>
          </a:xfrm>
          <a:prstGeom prst="ellipse">
            <a:avLst/>
          </a:prstGeom>
          <a:solidFill>
            <a:srgbClr val="26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424160" y="4206240"/>
            <a:ext cx="1097280" cy="1097280"/>
          </a:xfrm>
          <a:prstGeom prst="ellipse">
            <a:avLst/>
          </a:prstGeom>
          <a:solidFill>
            <a:srgbClr val="DC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887</Words>
  <Application>Microsoft Office PowerPoint</Application>
  <PresentationFormat>Widescreen</PresentationFormat>
  <Paragraphs>170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John Kapungu</dc:creator>
  <cp:keywords/>
  <dc:description>generated using python-pptx</dc:description>
  <cp:lastModifiedBy>John Kapungu</cp:lastModifiedBy>
  <cp:revision>1</cp:revision>
  <dcterms:created xsi:type="dcterms:W3CDTF">2013-01-27T09:14:16Z</dcterms:created>
  <dcterms:modified xsi:type="dcterms:W3CDTF">2026-10-23T15:42:20Z</dcterms:modified>
  <cp:category/>
</cp:coreProperties>
</file>